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03157" y="1746945"/>
            <a:ext cx="593753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 Sort Algorithm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3256461" y="2585145"/>
            <a:ext cx="263107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Divide &amp; Conquer Sorting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597719" y="3209925"/>
            <a:ext cx="194841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Step-by-Step Visual Explanation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Merge Sort?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Divide-and-conquer sorting algorithm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Recursively divides array into halves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Merges sorted halves back together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Guaranteed O(n log n) time complexity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25761"/>
            <a:ext cx="7924800" cy="1066651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392412"/>
            <a:ext cx="7924800" cy="1066651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459063"/>
            <a:ext cx="7924800" cy="1066651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Core Steps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38200" y="1554361"/>
            <a:ext cx="761695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Divide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38200" y="1950541"/>
            <a:ext cx="761695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array into two halves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38200" y="2621012"/>
            <a:ext cx="761695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Conquer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38200" y="3017193"/>
            <a:ext cx="761695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Recursively sort each half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38200" y="3687663"/>
            <a:ext cx="761695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Combine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838200" y="4083844"/>
            <a:ext cx="761695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 sorted halves together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76525" y="2457450"/>
            <a:ext cx="476250" cy="476250"/>
          </a:xfrm>
          <a:prstGeom prst="rect">
            <a:avLst/>
          </a:prstGeom>
          <a:solidFill>
            <a:srgbClr val="334155"/>
          </a:solidFill>
          <a:ln w="19050">
            <a:solidFill>
              <a:srgbClr val="64748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3228975" y="2457450"/>
            <a:ext cx="476250" cy="476250"/>
          </a:xfrm>
          <a:prstGeom prst="rect">
            <a:avLst/>
          </a:prstGeom>
          <a:solidFill>
            <a:srgbClr val="334155"/>
          </a:solidFill>
          <a:ln w="19050">
            <a:solidFill>
              <a:srgbClr val="64748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781425" y="2457450"/>
            <a:ext cx="476250" cy="476250"/>
          </a:xfrm>
          <a:prstGeom prst="rect">
            <a:avLst/>
          </a:prstGeom>
          <a:solidFill>
            <a:srgbClr val="334155"/>
          </a:solidFill>
          <a:ln w="19050">
            <a:solidFill>
              <a:srgbClr val="64748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333875" y="2457450"/>
            <a:ext cx="476250" cy="476250"/>
          </a:xfrm>
          <a:prstGeom prst="rect">
            <a:avLst/>
          </a:prstGeom>
          <a:solidFill>
            <a:srgbClr val="334155"/>
          </a:solidFill>
          <a:ln w="19050">
            <a:solidFill>
              <a:srgbClr val="64748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886325" y="2457450"/>
            <a:ext cx="476250" cy="476250"/>
          </a:xfrm>
          <a:prstGeom prst="rect">
            <a:avLst/>
          </a:prstGeom>
          <a:solidFill>
            <a:srgbClr val="334155"/>
          </a:solidFill>
          <a:ln w="19050">
            <a:solidFill>
              <a:srgbClr val="64748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38775" y="2457450"/>
            <a:ext cx="476250" cy="476250"/>
          </a:xfrm>
          <a:prstGeom prst="rect">
            <a:avLst/>
          </a:prstGeom>
          <a:solidFill>
            <a:srgbClr val="334155"/>
          </a:solidFill>
          <a:ln w="19050">
            <a:solidFill>
              <a:srgbClr val="64748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91225" y="2457450"/>
            <a:ext cx="476250" cy="476250"/>
          </a:xfrm>
          <a:prstGeom prst="rect">
            <a:avLst/>
          </a:prstGeom>
          <a:solidFill>
            <a:srgbClr val="334155"/>
          </a:solidFill>
          <a:ln w="19050">
            <a:solidFill>
              <a:srgbClr val="64748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984580" y="1741289"/>
            <a:ext cx="3174691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Initial Array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3390808" y="3162300"/>
            <a:ext cx="2362385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Array: [38, 27, 43, 3, 9, 82, 10]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03005" y="1173361"/>
            <a:ext cx="1537841" cy="403771"/>
          </a:xfrm>
          <a:prstGeom prst="rect">
            <a:avLst/>
          </a:prstGeom>
          <a:solidFill>
            <a:srgbClr val="991B1B"/>
          </a:solidFill>
          <a:ln w="19050">
            <a:solidFill>
              <a:srgbClr val="EF4444"/>
            </a:solidFill>
          </a:ln>
        </p:spPr>
        <p:txBody>
          <a:bodyPr wrap="square" lIns="114300" tIns="114300" rIns="114300" bIns="1143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38 27 43 3 9 82 10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614589" y="1973312"/>
            <a:ext cx="859929" cy="403771"/>
          </a:xfrm>
          <a:prstGeom prst="rect">
            <a:avLst/>
          </a:prstGeom>
          <a:solidFill>
            <a:srgbClr val="991B1B"/>
          </a:solidFill>
          <a:ln w="19050">
            <a:solidFill>
              <a:srgbClr val="EF4444"/>
            </a:solidFill>
          </a:ln>
        </p:spPr>
        <p:txBody>
          <a:bodyPr wrap="square" lIns="114300" tIns="114300" rIns="114300" bIns="1143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38 27 43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626918" y="1973312"/>
            <a:ext cx="902345" cy="403771"/>
          </a:xfrm>
          <a:prstGeom prst="rect">
            <a:avLst/>
          </a:prstGeom>
          <a:solidFill>
            <a:srgbClr val="991B1B"/>
          </a:solidFill>
          <a:ln w="19050">
            <a:solidFill>
              <a:srgbClr val="EF4444"/>
            </a:solidFill>
          </a:ln>
        </p:spPr>
        <p:txBody>
          <a:bodyPr wrap="square" lIns="114300" tIns="114300" rIns="114300" bIns="1143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3 9 82 10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37756" y="2773263"/>
            <a:ext cx="436215" cy="403771"/>
          </a:xfrm>
          <a:prstGeom prst="rect">
            <a:avLst/>
          </a:prstGeom>
          <a:solidFill>
            <a:srgbClr val="991B1B"/>
          </a:solidFill>
          <a:ln w="19050">
            <a:solidFill>
              <a:srgbClr val="EF4444"/>
            </a:solidFill>
          </a:ln>
        </p:spPr>
        <p:txBody>
          <a:bodyPr wrap="square" lIns="114300" tIns="114300" rIns="114300" bIns="1143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826371" y="2773263"/>
            <a:ext cx="648146" cy="403771"/>
          </a:xfrm>
          <a:prstGeom prst="rect">
            <a:avLst/>
          </a:prstGeom>
          <a:solidFill>
            <a:srgbClr val="991B1B"/>
          </a:solidFill>
          <a:ln w="19050">
            <a:solidFill>
              <a:srgbClr val="EF4444"/>
            </a:solidFill>
          </a:ln>
        </p:spPr>
        <p:txBody>
          <a:bodyPr wrap="square" lIns="114300" tIns="114300" rIns="114300" bIns="1143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27 43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626918" y="2773263"/>
            <a:ext cx="478631" cy="403771"/>
          </a:xfrm>
          <a:prstGeom prst="rect">
            <a:avLst/>
          </a:prstGeom>
          <a:solidFill>
            <a:srgbClr val="991B1B"/>
          </a:solidFill>
          <a:ln w="19050">
            <a:solidFill>
              <a:srgbClr val="EF4444"/>
            </a:solidFill>
          </a:ln>
        </p:spPr>
        <p:txBody>
          <a:bodyPr wrap="square" lIns="114300" tIns="114300" rIns="114300" bIns="1143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3 9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257949" y="2773263"/>
            <a:ext cx="648146" cy="403771"/>
          </a:xfrm>
          <a:prstGeom prst="rect">
            <a:avLst/>
          </a:prstGeom>
          <a:solidFill>
            <a:srgbClr val="991B1B"/>
          </a:solidFill>
          <a:ln w="19050">
            <a:solidFill>
              <a:srgbClr val="EF4444"/>
            </a:solidFill>
          </a:ln>
        </p:spPr>
        <p:txBody>
          <a:bodyPr wrap="square" lIns="114300" tIns="114300" rIns="114300" bIns="1143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82 10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Divide Phase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530352" y="1729532"/>
            <a:ext cx="808329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30352" y="2529483"/>
            <a:ext cx="808329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37756" y="1173361"/>
            <a:ext cx="436215" cy="403771"/>
          </a:xfrm>
          <a:prstGeom prst="rect">
            <a:avLst/>
          </a:prstGeom>
          <a:solidFill>
            <a:srgbClr val="0C4A6E"/>
          </a:solidFill>
          <a:ln w="19050">
            <a:solidFill>
              <a:srgbClr val="38BDF8"/>
            </a:solidFill>
          </a:ln>
        </p:spPr>
        <p:txBody>
          <a:bodyPr wrap="square" lIns="114300" tIns="114300" rIns="114300" bIns="1143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826371" y="1173361"/>
            <a:ext cx="648146" cy="403771"/>
          </a:xfrm>
          <a:prstGeom prst="rect">
            <a:avLst/>
          </a:prstGeom>
          <a:solidFill>
            <a:srgbClr val="065F46"/>
          </a:solidFill>
          <a:ln w="19050">
            <a:solidFill>
              <a:srgbClr val="10B981"/>
            </a:solidFill>
          </a:ln>
        </p:spPr>
        <p:txBody>
          <a:bodyPr wrap="square" lIns="114300" tIns="114300" rIns="114300" bIns="1143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27 43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626918" y="1173361"/>
            <a:ext cx="478631" cy="403771"/>
          </a:xfrm>
          <a:prstGeom prst="rect">
            <a:avLst/>
          </a:prstGeom>
          <a:solidFill>
            <a:srgbClr val="065F46"/>
          </a:solidFill>
          <a:ln w="19050">
            <a:solidFill>
              <a:srgbClr val="10B981"/>
            </a:solidFill>
          </a:ln>
        </p:spPr>
        <p:txBody>
          <a:bodyPr wrap="square" lIns="114300" tIns="114300" rIns="114300" bIns="1143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3 9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257949" y="1173361"/>
            <a:ext cx="648146" cy="403771"/>
          </a:xfrm>
          <a:prstGeom prst="rect">
            <a:avLst/>
          </a:prstGeom>
          <a:solidFill>
            <a:srgbClr val="065F46"/>
          </a:solidFill>
          <a:ln w="19050">
            <a:solidFill>
              <a:srgbClr val="10B981"/>
            </a:solidFill>
          </a:ln>
        </p:spPr>
        <p:txBody>
          <a:bodyPr wrap="square" lIns="114300" tIns="114300" rIns="114300" bIns="1143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10 82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14589" y="1973312"/>
            <a:ext cx="859929" cy="403771"/>
          </a:xfrm>
          <a:prstGeom prst="rect">
            <a:avLst/>
          </a:prstGeom>
          <a:solidFill>
            <a:srgbClr val="0C4A6E"/>
          </a:solidFill>
          <a:ln w="19050">
            <a:solidFill>
              <a:srgbClr val="38BDF8"/>
            </a:solidFill>
          </a:ln>
        </p:spPr>
        <p:txBody>
          <a:bodyPr wrap="square" lIns="114300" tIns="114300" rIns="114300" bIns="1143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27 38 43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626918" y="1973312"/>
            <a:ext cx="902345" cy="403771"/>
          </a:xfrm>
          <a:prstGeom prst="rect">
            <a:avLst/>
          </a:prstGeom>
          <a:solidFill>
            <a:srgbClr val="0C4A6E"/>
          </a:solidFill>
          <a:ln w="19050">
            <a:solidFill>
              <a:srgbClr val="38BDF8"/>
            </a:solidFill>
          </a:ln>
        </p:spPr>
        <p:txBody>
          <a:bodyPr wrap="square" lIns="114300" tIns="114300" rIns="114300" bIns="1143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3 9 10 82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Merge Phase (Bottom-Up)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530352" y="1729532"/>
            <a:ext cx="808329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09600" y="2834283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Merging sorted sub-arrays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14589" y="2057400"/>
            <a:ext cx="859929" cy="403771"/>
          </a:xfrm>
          <a:prstGeom prst="rect">
            <a:avLst/>
          </a:prstGeom>
          <a:solidFill>
            <a:srgbClr val="065F46"/>
          </a:solidFill>
          <a:ln w="19050">
            <a:solidFill>
              <a:srgbClr val="10B981"/>
            </a:solidFill>
          </a:ln>
        </p:spPr>
        <p:txBody>
          <a:bodyPr wrap="square" lIns="114300" tIns="114300" rIns="114300" bIns="11430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27 38 43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626918" y="2057400"/>
            <a:ext cx="902345" cy="403771"/>
          </a:xfrm>
          <a:prstGeom prst="rect">
            <a:avLst/>
          </a:prstGeom>
          <a:solidFill>
            <a:srgbClr val="065F46"/>
          </a:solidFill>
          <a:ln w="19050">
            <a:solidFill>
              <a:srgbClr val="10B981"/>
            </a:solidFill>
          </a:ln>
        </p:spPr>
        <p:txBody>
          <a:bodyPr wrap="square" lIns="114300" tIns="114300" rIns="114300" bIns="11430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3 9 10 82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676525" y="2857351"/>
            <a:ext cx="476250" cy="476250"/>
          </a:xfrm>
          <a:prstGeom prst="rect">
            <a:avLst/>
          </a:prstGeom>
          <a:solidFill>
            <a:srgbClr val="10B981"/>
          </a:solidFill>
          <a:ln w="19050">
            <a:solidFill>
              <a:srgbClr val="10B98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28975" y="2857351"/>
            <a:ext cx="476250" cy="476250"/>
          </a:xfrm>
          <a:prstGeom prst="rect">
            <a:avLst/>
          </a:prstGeom>
          <a:solidFill>
            <a:srgbClr val="10B981"/>
          </a:solidFill>
          <a:ln w="19050">
            <a:solidFill>
              <a:srgbClr val="10B98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781425" y="2857351"/>
            <a:ext cx="476250" cy="476250"/>
          </a:xfrm>
          <a:prstGeom prst="rect">
            <a:avLst/>
          </a:prstGeom>
          <a:solidFill>
            <a:srgbClr val="10B981"/>
          </a:solidFill>
          <a:ln w="19050">
            <a:solidFill>
              <a:srgbClr val="10B98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333875" y="2857351"/>
            <a:ext cx="476250" cy="476250"/>
          </a:xfrm>
          <a:prstGeom prst="rect">
            <a:avLst/>
          </a:prstGeom>
          <a:solidFill>
            <a:srgbClr val="10B981"/>
          </a:solidFill>
          <a:ln w="19050">
            <a:solidFill>
              <a:srgbClr val="10B98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886325" y="2857351"/>
            <a:ext cx="476250" cy="476250"/>
          </a:xfrm>
          <a:prstGeom prst="rect">
            <a:avLst/>
          </a:prstGeom>
          <a:solidFill>
            <a:srgbClr val="10B981"/>
          </a:solidFill>
          <a:ln w="19050">
            <a:solidFill>
              <a:srgbClr val="10B98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38775" y="2857351"/>
            <a:ext cx="476250" cy="476250"/>
          </a:xfrm>
          <a:prstGeom prst="rect">
            <a:avLst/>
          </a:prstGeom>
          <a:solidFill>
            <a:srgbClr val="10B981"/>
          </a:solidFill>
          <a:ln w="19050">
            <a:solidFill>
              <a:srgbClr val="10B98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991225" y="2857351"/>
            <a:ext cx="476250" cy="476250"/>
          </a:xfrm>
          <a:prstGeom prst="rect">
            <a:avLst/>
          </a:prstGeom>
          <a:solidFill>
            <a:srgbClr val="10B981"/>
          </a:solidFill>
          <a:ln w="19050">
            <a:solidFill>
              <a:srgbClr val="10B98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968489" y="1417439"/>
            <a:ext cx="3206874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4: Final Merge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2638615" y="2613571"/>
            <a:ext cx="386676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872182" y="3486001"/>
            <a:ext cx="139948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sorted array!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Merging Works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Merging [27, 38] and [3, 9]: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41872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27 vs 3 → pick 3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27 vs 9 → pick 9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27 vs (empty) → pick 27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remaining 38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3371255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[3, 9, 27, 38]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561"/>
            <a:ext cx="7924800" cy="1066651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316212"/>
            <a:ext cx="7924800" cy="1066651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382863"/>
            <a:ext cx="7924800" cy="1066651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Complexity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38200" y="1478161"/>
            <a:ext cx="761695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Case: O(n log n)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38200" y="1874341"/>
            <a:ext cx="761695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divides and merges consistently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38200" y="2544812"/>
            <a:ext cx="761695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Case: O(n log n)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38200" y="2940993"/>
            <a:ext cx="761695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Predictable performance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38200" y="3611463"/>
            <a:ext cx="761695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Worst Case: O(n log n)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838200" y="4007644"/>
            <a:ext cx="761695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Guaranteed efficiency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 Complexity &amp; Features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3257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 complexity: O(n) for temporary arrays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 sort (preserves relative order)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in-place (requires extra memory)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Excellent for linked lists and external sorting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2026-02-04T04:30:10Z</dcterms:created>
  <dcterms:modified xsi:type="dcterms:W3CDTF">2026-02-04T04:30:10Z</dcterms:modified>
</cp:coreProperties>
</file>